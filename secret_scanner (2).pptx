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307" r:id="rId3"/>
    <p:sldId id="308" r:id="rId4"/>
    <p:sldId id="259" r:id="rId5"/>
    <p:sldId id="262" r:id="rId6"/>
    <p:sldId id="261" r:id="rId7"/>
    <p:sldId id="309" r:id="rId8"/>
    <p:sldId id="310" r:id="rId9"/>
    <p:sldId id="311" r:id="rId10"/>
    <p:sldId id="268" r:id="rId11"/>
  </p:sldIdLst>
  <p:sldSz cx="9144000" cy="5143500" type="screen16x9"/>
  <p:notesSz cx="6858000" cy="9144000"/>
  <p:embeddedFontLst>
    <p:embeddedFont>
      <p:font typeface="IBM Plex Mono" panose="020B0509050203000203" pitchFamily="49" charset="-52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FA3D33-621F-44C2-993E-2CA6BA88FC3F}">
  <a:tblStyle styleId="{63FA3D33-621F-44C2-993E-2CA6BA88FC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4ed99bf1a4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4ed99bf1a4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415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309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31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4ed99bf1a4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4ed99bf1a4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>
            <a:spLocks noGrp="1"/>
          </p:cNvSpPr>
          <p:nvPr>
            <p:ph type="subTitle" idx="1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7" r:id="rId5"/>
    <p:sldLayoutId id="2147483658" r:id="rId6"/>
    <p:sldLayoutId id="2147483660" r:id="rId7"/>
    <p:sldLayoutId id="2147483676" r:id="rId8"/>
    <p:sldLayoutId id="214748367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84650" y="973890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Сканер </a:t>
            </a:r>
            <a:b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утечек в коде</a:t>
            </a:r>
            <a:endParaRPr sz="4800" dirty="0">
              <a:solidFill>
                <a:schemeClr val="tx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F3C0F48E-5F3F-5A68-1BBE-75CC0FB7E9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39700" indent="0" algn="just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Целью работы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является разработка и реализация алгоритмического и программного обеспечения (прототипа инструмента) для автоматизации процесса детектирования конфиденциальной информации (секретов, токенов, ключей доступа) в исходных кодах программных проектов, а также создание механизма формирования структурированных отчетов для оценки рисков компрометации данных.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8040E5-F207-8BF9-73FE-5C4B9AA6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разработки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7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F3C0F48E-5F3F-5A68-1BBE-75CC0FB7E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5" y="1160775"/>
            <a:ext cx="7710900" cy="2541275"/>
          </a:xfrm>
        </p:spPr>
        <p:txBody>
          <a:bodyPr/>
          <a:lstStyle/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сканирование файлов проекта (исходный код, конфигурационные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файлы,скрипты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т.п.);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потенциальных секретов по типовым паттернам (API-ключи, токены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доступа, приватные ключи, строки, похожие на base64-закодированные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уровня критичности обнаруженной находки;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отчета, содержащего: путь к файлу, номер строки, тип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обнаруженного секрета, уровень риска.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8040E5-F207-8BF9-73FE-5C4B9AA6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5" name="Google Shape;1485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04DF408B-D488-95FF-0EEB-A0708A6C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125" y="146475"/>
            <a:ext cx="7704000" cy="572700"/>
          </a:xfrm>
        </p:spPr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разработки</a:t>
            </a:r>
            <a:endParaRPr lang="ru-RU" sz="3000" dirty="0">
              <a:solidFill>
                <a:schemeClr val="tx1"/>
              </a:solidFill>
            </a:endParaRPr>
          </a:p>
        </p:txBody>
      </p:sp>
      <p:pic>
        <p:nvPicPr>
          <p:cNvPr id="9" name="Picture 2" descr="Picture background">
            <a:extLst>
              <a:ext uri="{FF2B5EF4-FFF2-40B4-BE49-F238E27FC236}">
                <a16:creationId xmlns:a16="http://schemas.microsoft.com/office/drawing/2014/main" id="{94D3CC44-0773-C3C4-CA25-7CE4D2DE2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727" y="1288384"/>
            <a:ext cx="2062580" cy="182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12CB88C-1A17-FA52-8C55-CDBA7A1EF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203" y="1792426"/>
            <a:ext cx="2886159" cy="1021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691425" y="273575"/>
            <a:ext cx="52140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работы программы</a:t>
            </a:r>
            <a:endParaRPr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41920FE-A312-7C8C-F07C-2258840EFC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" t="4521" r="700" b="1536"/>
          <a:stretch/>
        </p:blipFill>
        <p:spPr>
          <a:xfrm>
            <a:off x="1034541" y="1377022"/>
            <a:ext cx="6447521" cy="23894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40"/>
          <p:cNvGrpSpPr/>
          <p:nvPr/>
        </p:nvGrpSpPr>
        <p:grpSpPr>
          <a:xfrm>
            <a:off x="-2395860" y="-2495366"/>
            <a:ext cx="8164418" cy="6343459"/>
            <a:chOff x="-2613417" y="-2806210"/>
            <a:chExt cx="8164418" cy="6343459"/>
          </a:xfrm>
        </p:grpSpPr>
        <p:grpSp>
          <p:nvGrpSpPr>
            <p:cNvPr id="1546" name="Google Shape;1546;p40"/>
            <p:cNvGrpSpPr/>
            <p:nvPr/>
          </p:nvGrpSpPr>
          <p:grpSpPr>
            <a:xfrm>
              <a:off x="-2613417" y="-2806210"/>
              <a:ext cx="8164418" cy="6343459"/>
              <a:chOff x="-2613417" y="-2806210"/>
              <a:chExt cx="8164418" cy="6343459"/>
            </a:xfrm>
          </p:grpSpPr>
          <p:grpSp>
            <p:nvGrpSpPr>
              <p:cNvPr id="1547" name="Google Shape;1547;p40"/>
              <p:cNvGrpSpPr/>
              <p:nvPr/>
            </p:nvGrpSpPr>
            <p:grpSpPr>
              <a:xfrm>
                <a:off x="-191059" y="95963"/>
                <a:ext cx="1538562" cy="971589"/>
                <a:chOff x="-191059" y="95963"/>
                <a:chExt cx="1538562" cy="971589"/>
              </a:xfrm>
            </p:grpSpPr>
            <p:grpSp>
              <p:nvGrpSpPr>
                <p:cNvPr id="1548" name="Google Shape;1548;p40"/>
                <p:cNvGrpSpPr/>
                <p:nvPr/>
              </p:nvGrpSpPr>
              <p:grpSpPr>
                <a:xfrm>
                  <a:off x="-191059" y="201619"/>
                  <a:ext cx="904284" cy="865933"/>
                  <a:chOff x="2038491" y="-937756"/>
                  <a:chExt cx="904284" cy="865933"/>
                </a:xfrm>
              </p:grpSpPr>
              <p:grpSp>
                <p:nvGrpSpPr>
                  <p:cNvPr id="1549" name="Google Shape;1549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0" name="Google Shape;1550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1" name="Google Shape;1551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2" name="Google Shape;1552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3" name="Google Shape;1553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4" name="Google Shape;1554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55" name="Google Shape;1555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56" name="Google Shape;1556;p40"/>
                <p:cNvGrpSpPr/>
                <p:nvPr/>
              </p:nvGrpSpPr>
              <p:grpSpPr>
                <a:xfrm>
                  <a:off x="584533" y="9596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57" name="Google Shape;1557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58" name="Google Shape;1558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59" name="Google Shape;1559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0" name="Google Shape;1560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1" name="Google Shape;1561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2" name="Google Shape;1562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63" name="Google Shape;1563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64" name="Google Shape;1564;p40"/>
                <p:cNvGrpSpPr/>
                <p:nvPr/>
              </p:nvGrpSpPr>
              <p:grpSpPr>
                <a:xfrm>
                  <a:off x="530445" y="481913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65" name="Google Shape;1565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66" name="Google Shape;1566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7" name="Google Shape;1567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8" name="Google Shape;1568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69" name="Google Shape;1569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0" name="Google Shape;1570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1" name="Google Shape;1571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72" name="Google Shape;1572;p40"/>
                <p:cNvGrpSpPr/>
                <p:nvPr/>
              </p:nvGrpSpPr>
              <p:grpSpPr>
                <a:xfrm>
                  <a:off x="874020" y="312788"/>
                  <a:ext cx="473483" cy="453403"/>
                  <a:chOff x="2038491" y="-937756"/>
                  <a:chExt cx="904284" cy="865933"/>
                </a:xfrm>
              </p:grpSpPr>
              <p:grpSp>
                <p:nvGrpSpPr>
                  <p:cNvPr id="1573" name="Google Shape;1573;p40"/>
                  <p:cNvGrpSpPr/>
                  <p:nvPr/>
                </p:nvGrpSpPr>
                <p:grpSpPr>
                  <a:xfrm>
                    <a:off x="2096570" y="-863491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574" name="Google Shape;1574;p40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5" name="Google Shape;1575;p40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6" name="Google Shape;1576;p40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7" name="Google Shape;1577;p40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578" name="Google Shape;1578;p40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>
                            <a:alpha val="46820"/>
                          </a:schemeClr>
                        </a:gs>
                        <a:gs pos="22000">
                          <a:schemeClr val="lt1">
                            <a:alpha val="46820"/>
                          </a:schemeClr>
                        </a:gs>
                        <a:gs pos="45000">
                          <a:srgbClr val="FFFFFF">
                            <a:alpha val="0"/>
                            <a:alpha val="46820"/>
                          </a:srgbClr>
                        </a:gs>
                        <a:gs pos="100000">
                          <a:srgbClr val="0C0A9E">
                            <a:alpha val="50196"/>
                            <a:alpha val="46820"/>
                          </a:srgbClr>
                        </a:gs>
                      </a:gsLst>
                      <a:lin ang="2698631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579" name="Google Shape;1579;p40"/>
                  <p:cNvSpPr/>
                  <p:nvPr/>
                </p:nvSpPr>
                <p:spPr>
                  <a:xfrm>
                    <a:off x="2038491" y="-937756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0C0A9E">
                          <a:alpha val="2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580" name="Google Shape;1580;p40"/>
              <p:cNvGrpSpPr/>
              <p:nvPr/>
            </p:nvGrpSpPr>
            <p:grpSpPr>
              <a:xfrm rot="-7479050">
                <a:off x="-2051246" y="-1642948"/>
                <a:ext cx="4889863" cy="3931229"/>
                <a:chOff x="7103825" y="-713112"/>
                <a:chExt cx="3785226" cy="3043150"/>
              </a:xfrm>
            </p:grpSpPr>
            <p:sp>
              <p:nvSpPr>
                <p:cNvPr id="1581" name="Google Shape;1581;p40"/>
                <p:cNvSpPr/>
                <p:nvPr/>
              </p:nvSpPr>
              <p:spPr>
                <a:xfrm rot="-3600017">
                  <a:off x="7761095" y="-21"/>
                  <a:ext cx="2152450" cy="1864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700006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582" name="Google Shape;1582;p4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17657" b="17664"/>
                <a:stretch/>
              </p:blipFill>
              <p:spPr>
                <a:xfrm>
                  <a:off x="7103825" y="-713112"/>
                  <a:ext cx="3785226" cy="28889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583" name="Google Shape;1583;p40"/>
              <p:cNvGrpSpPr/>
              <p:nvPr/>
            </p:nvGrpSpPr>
            <p:grpSpPr>
              <a:xfrm>
                <a:off x="-640220" y="-2653973"/>
                <a:ext cx="6191222" cy="6191222"/>
                <a:chOff x="-640220" y="-2502423"/>
                <a:chExt cx="6191222" cy="6191222"/>
              </a:xfrm>
            </p:grpSpPr>
            <p:sp>
              <p:nvSpPr>
                <p:cNvPr id="1584" name="Google Shape;1584;p40"/>
                <p:cNvSpPr/>
                <p:nvPr/>
              </p:nvSpPr>
              <p:spPr>
                <a:xfrm rot="-8100000">
                  <a:off x="452224" y="-1781500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5" name="Google Shape;1585;p40"/>
                <p:cNvSpPr/>
                <p:nvPr/>
              </p:nvSpPr>
              <p:spPr>
                <a:xfrm rot="-8100000">
                  <a:off x="83608" y="-617740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86" name="Google Shape;1586;p40"/>
            <p:cNvGrpSpPr/>
            <p:nvPr/>
          </p:nvGrpSpPr>
          <p:grpSpPr>
            <a:xfrm>
              <a:off x="-12" y="-195650"/>
              <a:ext cx="439200" cy="439100"/>
              <a:chOff x="1101075" y="2142375"/>
              <a:chExt cx="439200" cy="439100"/>
            </a:xfrm>
          </p:grpSpPr>
          <p:sp>
            <p:nvSpPr>
              <p:cNvPr id="1587" name="Google Shape;1587;p4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9" name="Google Shape;1589;p40"/>
          <p:cNvGrpSpPr/>
          <p:nvPr/>
        </p:nvGrpSpPr>
        <p:grpSpPr>
          <a:xfrm>
            <a:off x="4376744" y="2024647"/>
            <a:ext cx="5765856" cy="4103650"/>
            <a:chOff x="4452944" y="2184175"/>
            <a:chExt cx="5765856" cy="4103650"/>
          </a:xfrm>
        </p:grpSpPr>
        <p:pic>
          <p:nvPicPr>
            <p:cNvPr id="1590" name="Google Shape;1590;p40"/>
            <p:cNvPicPr preferRelativeResize="0"/>
            <p:nvPr/>
          </p:nvPicPr>
          <p:blipFill rotWithShape="1">
            <a:blip r:embed="rId4">
              <a:alphaModFix/>
            </a:blip>
            <a:srcRect l="16960" t="24719" r="7121" b="26177"/>
            <a:stretch/>
          </p:blipFill>
          <p:spPr>
            <a:xfrm rot="-5400000" flipH="1">
              <a:off x="6600975" y="2670000"/>
              <a:ext cx="4103650" cy="3132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1" name="Google Shape;1591;p40"/>
            <p:cNvGrpSpPr/>
            <p:nvPr/>
          </p:nvGrpSpPr>
          <p:grpSpPr>
            <a:xfrm rot="-5400000" flipH="1">
              <a:off x="8074852" y="4089881"/>
              <a:ext cx="1478405" cy="1186772"/>
              <a:chOff x="7945225" y="4302000"/>
              <a:chExt cx="904666" cy="726121"/>
            </a:xfrm>
          </p:grpSpPr>
          <p:sp>
            <p:nvSpPr>
              <p:cNvPr id="1592" name="Google Shape;1592;p4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95" name="Google Shape;1595;p40"/>
            <p:cNvSpPr/>
            <p:nvPr/>
          </p:nvSpPr>
          <p:spPr>
            <a:xfrm rot="-5400000" flipH="1">
              <a:off x="5435889" y="14813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6" name="Google Shape;1596;p40"/>
            <p:cNvGrpSpPr/>
            <p:nvPr/>
          </p:nvGrpSpPr>
          <p:grpSpPr>
            <a:xfrm rot="-5400000" flipH="1">
              <a:off x="7140078" y="3883230"/>
              <a:ext cx="134004" cy="134004"/>
              <a:chOff x="8356813" y="1074288"/>
              <a:chExt cx="351900" cy="351900"/>
            </a:xfrm>
          </p:grpSpPr>
          <p:sp>
            <p:nvSpPr>
              <p:cNvPr id="1597" name="Google Shape;1597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40"/>
            <p:cNvGrpSpPr/>
            <p:nvPr/>
          </p:nvGrpSpPr>
          <p:grpSpPr>
            <a:xfrm rot="-5400000" flipH="1">
              <a:off x="6766253" y="3499155"/>
              <a:ext cx="134004" cy="134004"/>
              <a:chOff x="8356813" y="1074288"/>
              <a:chExt cx="351900" cy="351900"/>
            </a:xfrm>
          </p:grpSpPr>
          <p:sp>
            <p:nvSpPr>
              <p:cNvPr id="1600" name="Google Shape;1600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2" name="Google Shape;1602;p40"/>
            <p:cNvSpPr/>
            <p:nvPr/>
          </p:nvSpPr>
          <p:spPr>
            <a:xfrm rot="5400000" flipH="1">
              <a:off x="6561314" y="236813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0"/>
            <p:cNvSpPr/>
            <p:nvPr/>
          </p:nvSpPr>
          <p:spPr>
            <a:xfrm rot="5400000" flipH="1">
              <a:off x="6562398" y="2676948"/>
              <a:ext cx="1902692" cy="406951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4" name="Google Shape;1604;p40"/>
            <p:cNvGrpSpPr/>
            <p:nvPr/>
          </p:nvGrpSpPr>
          <p:grpSpPr>
            <a:xfrm rot="-5400000" flipH="1">
              <a:off x="7404606" y="3451356"/>
              <a:ext cx="582050" cy="582425"/>
              <a:chOff x="959750" y="3039275"/>
              <a:chExt cx="582050" cy="582425"/>
            </a:xfrm>
          </p:grpSpPr>
          <p:sp>
            <p:nvSpPr>
              <p:cNvPr id="1605" name="Google Shape;1605;p4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4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2" name="Google Shape;1612;p40"/>
            <p:cNvGrpSpPr/>
            <p:nvPr/>
          </p:nvGrpSpPr>
          <p:grpSpPr>
            <a:xfrm rot="-5400000" flipH="1">
              <a:off x="7237650" y="4201057"/>
              <a:ext cx="699928" cy="1651024"/>
              <a:chOff x="8337812" y="3492483"/>
              <a:chExt cx="699928" cy="1651024"/>
            </a:xfrm>
          </p:grpSpPr>
          <p:sp>
            <p:nvSpPr>
              <p:cNvPr id="1613" name="Google Shape;1613;p4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4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6" name="Google Shape;1616;p40"/>
            <p:cNvSpPr/>
            <p:nvPr/>
          </p:nvSpPr>
          <p:spPr>
            <a:xfrm rot="147769" flipH="1">
              <a:off x="7025973" y="450498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0"/>
            <p:cNvSpPr/>
            <p:nvPr/>
          </p:nvSpPr>
          <p:spPr>
            <a:xfrm rot="147769" flipH="1">
              <a:off x="6785273" y="4569932"/>
              <a:ext cx="454547" cy="449759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8" name="Google Shape;1618;p40"/>
            <p:cNvGrpSpPr/>
            <p:nvPr/>
          </p:nvGrpSpPr>
          <p:grpSpPr>
            <a:xfrm rot="-5400000" flipH="1">
              <a:off x="5819578" y="4727817"/>
              <a:ext cx="134004" cy="134004"/>
              <a:chOff x="8356813" y="1074288"/>
              <a:chExt cx="351900" cy="351900"/>
            </a:xfrm>
          </p:grpSpPr>
          <p:sp>
            <p:nvSpPr>
              <p:cNvPr id="1619" name="Google Shape;1619;p4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4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3" name="Google Shape;1623;p40"/>
          <p:cNvGrpSpPr/>
          <p:nvPr/>
        </p:nvGrpSpPr>
        <p:grpSpPr>
          <a:xfrm rot="-5400000" flipH="1">
            <a:off x="8904403" y="2929792"/>
            <a:ext cx="134004" cy="134004"/>
            <a:chOff x="8356813" y="1074288"/>
            <a:chExt cx="351900" cy="351900"/>
          </a:xfrm>
        </p:grpSpPr>
        <p:sp>
          <p:nvSpPr>
            <p:cNvPr id="1624" name="Google Shape;1624;p40"/>
            <p:cNvSpPr/>
            <p:nvPr/>
          </p:nvSpPr>
          <p:spPr>
            <a:xfrm>
              <a:off x="8356813" y="1074288"/>
              <a:ext cx="351900" cy="3519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0"/>
            <p:cNvSpPr/>
            <p:nvPr/>
          </p:nvSpPr>
          <p:spPr>
            <a:xfrm>
              <a:off x="8406497" y="1123972"/>
              <a:ext cx="252600" cy="252600"/>
            </a:xfrm>
            <a:prstGeom prst="ellipse">
              <a:avLst/>
            </a:pr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02BE667-9AE0-E063-E4CB-FC0A9CB68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00" y="220747"/>
            <a:ext cx="8239603" cy="911235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сканирования </a:t>
            </a:r>
          </a:p>
        </p:txBody>
      </p:sp>
      <p:graphicFrame>
        <p:nvGraphicFramePr>
          <p:cNvPr id="8" name="Google Shape;1459;p36">
            <a:extLst>
              <a:ext uri="{FF2B5EF4-FFF2-40B4-BE49-F238E27FC236}">
                <a16:creationId xmlns:a16="http://schemas.microsoft.com/office/drawing/2014/main" id="{2D9D82F2-E6DB-6C84-251E-8FAAD5327F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4632133"/>
              </p:ext>
            </p:extLst>
          </p:nvPr>
        </p:nvGraphicFramePr>
        <p:xfrm>
          <a:off x="500029" y="1444007"/>
          <a:ext cx="7022296" cy="2586801"/>
        </p:xfrm>
        <a:graphic>
          <a:graphicData uri="http://schemas.openxmlformats.org/drawingml/2006/table">
            <a:tbl>
              <a:tblPr>
                <a:effectLst>
                  <a:innerShdw blurRad="114300">
                    <a:prstClr val="black"/>
                  </a:innerShdw>
                </a:effectLst>
                <a:tableStyleId>{284E427A-3D55-4303-BF80-6455036E1DE7}</a:tableStyleId>
              </a:tblPr>
              <a:tblGrid>
                <a:gridCol w="1357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 err="1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Ахо-Корасик</a:t>
                      </a:r>
                      <a:endParaRPr sz="1400" b="1" u="sng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IBM Plex Mono"/>
                        <a:cs typeface="Times New Roman" panose="02020603050405020304" pitchFamily="18" charset="0"/>
                        <a:sym typeface="IBM Plex Mono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 реализации используется алгоритм множественного поиска строк 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Ахо-Корасик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(библиотека 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cloudflare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/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ahocorasick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), который строит конечный автомат на основе словаря ключевых слов (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api_key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 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token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, 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secret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 и др.). Это позволяет выполнить однократный проход по содержимому файла и обнаружить все потенциально опасные ключевые слова за линейное время, независимо от размера словаря.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Poppins"/>
                        <a:cs typeface="Times New Roman" panose="02020603050405020304" pitchFamily="18" charset="0"/>
                        <a:sym typeface="Poppi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5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Regexp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-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метод</a:t>
                      </a: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После обнаружения ключевого слова алгоритмом 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Ахо-Корасик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 применяется верификация с помощью регулярных выражений, соответствующих конкретным типам секретов (AWS-ключи, токены аутентификации, приватные ключи). Данный подход обеспечивает точное выделение границ потенциального секрета в контексте строки и его классификацию по заданному шаблону.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Poppi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400" b="1" i="0" u="none" strike="noStrike" cap="none" dirty="0">
                          <a:solidFill>
                            <a:srgbClr val="0F1115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Энтропия</a:t>
                      </a:r>
                      <a:endParaRPr lang="en-US" sz="1400" b="1" i="0" u="none" strike="noStrike" cap="none" dirty="0">
                        <a:solidFill>
                          <a:srgbClr val="0F1115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Для оценки вероятности того, что обнаруженная строка действительно является секретом, применяется вычисление энтропии Шеннона, измеряющей степень случайности последовательности символов. Высокие значения энтропии (&gt; 4.5) характерны для криптографических ключей и base64-кодированных данных, что позволяет повысить уровень критичности находки, тогда как низкая энтропия или наличие тестовых индикаторов в контексте приводят к понижению уровня угрозы.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Poppi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691425" y="273575"/>
            <a:ext cx="52140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вывода в консоль</a:t>
            </a:r>
            <a:endParaRPr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2279B5-E8BD-C698-49D5-9FF17A711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370"/>
          <a:stretch/>
        </p:blipFill>
        <p:spPr>
          <a:xfrm>
            <a:off x="307025" y="966510"/>
            <a:ext cx="4158184" cy="266439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F90D3A-36E1-7DCB-E532-D96EFE798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68613"/>
            <a:ext cx="3418811" cy="320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17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691425" y="273575"/>
            <a:ext cx="609649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вывода в файлы .</a:t>
            </a:r>
            <a:r>
              <a:rPr lang="en-US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endParaRPr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6A9F73-1152-7FC8-E518-4FE7F1F36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332" y="1378129"/>
            <a:ext cx="5873518" cy="270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96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691425" y="273575"/>
            <a:ext cx="52140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вывода в файлы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.txt</a:t>
            </a:r>
            <a:endParaRPr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E8E519-3DB5-F138-EF5F-13861C91E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25" y="1346929"/>
            <a:ext cx="7034873" cy="288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20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47"/>
          <p:cNvSpPr txBox="1">
            <a:spLocks noGrp="1"/>
          </p:cNvSpPr>
          <p:nvPr>
            <p:ph type="title"/>
          </p:nvPr>
        </p:nvSpPr>
        <p:spPr>
          <a:xfrm>
            <a:off x="731495" y="1928009"/>
            <a:ext cx="7758837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Спасибо за внимание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1858" name="Google Shape;1858;p47"/>
          <p:cNvGrpSpPr/>
          <p:nvPr/>
        </p:nvGrpSpPr>
        <p:grpSpPr>
          <a:xfrm>
            <a:off x="6527600" y="-628478"/>
            <a:ext cx="5128253" cy="6694378"/>
            <a:chOff x="6222800" y="-628478"/>
            <a:chExt cx="5128253" cy="6694378"/>
          </a:xfrm>
        </p:grpSpPr>
        <p:pic>
          <p:nvPicPr>
            <p:cNvPr id="1859" name="Google Shape;1859;p47"/>
            <p:cNvPicPr preferRelativeResize="0"/>
            <p:nvPr/>
          </p:nvPicPr>
          <p:blipFill rotWithShape="1">
            <a:blip r:embed="rId3">
              <a:alphaModFix/>
            </a:blip>
            <a:srcRect t="17657" b="17664"/>
            <a:stretch/>
          </p:blipFill>
          <p:spPr>
            <a:xfrm>
              <a:off x="7517168" y="-628478"/>
              <a:ext cx="3082266" cy="2352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0" name="Google Shape;1860;p47"/>
            <p:cNvPicPr preferRelativeResize="0"/>
            <p:nvPr/>
          </p:nvPicPr>
          <p:blipFill rotWithShape="1">
            <a:blip r:embed="rId4">
              <a:alphaModFix/>
            </a:blip>
            <a:srcRect l="16960" t="24719" r="7121" b="26177"/>
            <a:stretch/>
          </p:blipFill>
          <p:spPr>
            <a:xfrm>
              <a:off x="6714900" y="3028141"/>
              <a:ext cx="3980176" cy="3037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47"/>
            <p:cNvSpPr/>
            <p:nvPr/>
          </p:nvSpPr>
          <p:spPr>
            <a:xfrm rot="10800000">
              <a:off x="7698559" y="2460647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7"/>
            <p:cNvSpPr/>
            <p:nvPr/>
          </p:nvSpPr>
          <p:spPr>
            <a:xfrm rot="10800000">
              <a:off x="7899688" y="2461423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7"/>
            <p:cNvSpPr/>
            <p:nvPr/>
          </p:nvSpPr>
          <p:spPr>
            <a:xfrm>
              <a:off x="6222800" y="-628462"/>
              <a:ext cx="3980181" cy="6461569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4" name="Google Shape;1864;p47"/>
            <p:cNvGrpSpPr/>
            <p:nvPr/>
          </p:nvGrpSpPr>
          <p:grpSpPr>
            <a:xfrm>
              <a:off x="6794737" y="4179460"/>
              <a:ext cx="734664" cy="735137"/>
              <a:chOff x="959750" y="3039275"/>
              <a:chExt cx="582050" cy="582425"/>
            </a:xfrm>
          </p:grpSpPr>
          <p:sp>
            <p:nvSpPr>
              <p:cNvPr id="1865" name="Google Shape;1865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2" name="Google Shape;1872;p47"/>
            <p:cNvGrpSpPr/>
            <p:nvPr/>
          </p:nvGrpSpPr>
          <p:grpSpPr>
            <a:xfrm>
              <a:off x="8128313" y="1310040"/>
              <a:ext cx="169158" cy="169158"/>
              <a:chOff x="8356813" y="1074288"/>
              <a:chExt cx="351900" cy="351900"/>
            </a:xfrm>
          </p:grpSpPr>
          <p:sp>
            <p:nvSpPr>
              <p:cNvPr id="1873" name="Google Shape;1873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5" name="Google Shape;1875;p47"/>
            <p:cNvGrpSpPr/>
            <p:nvPr/>
          </p:nvGrpSpPr>
          <p:grpSpPr>
            <a:xfrm>
              <a:off x="7360240" y="2075006"/>
              <a:ext cx="169158" cy="169158"/>
              <a:chOff x="8356813" y="1074288"/>
              <a:chExt cx="351900" cy="351900"/>
            </a:xfrm>
          </p:grpSpPr>
          <p:sp>
            <p:nvSpPr>
              <p:cNvPr id="1876" name="Google Shape;1876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8" name="Google Shape;1878;p47"/>
            <p:cNvGrpSpPr/>
            <p:nvPr/>
          </p:nvGrpSpPr>
          <p:grpSpPr>
            <a:xfrm>
              <a:off x="8233587" y="3028150"/>
              <a:ext cx="169158" cy="169158"/>
              <a:chOff x="8356813" y="1074288"/>
              <a:chExt cx="351900" cy="351900"/>
            </a:xfrm>
          </p:grpSpPr>
          <p:sp>
            <p:nvSpPr>
              <p:cNvPr id="1879" name="Google Shape;1879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1" name="Google Shape;1881;p47"/>
            <p:cNvSpPr/>
            <p:nvPr/>
          </p:nvSpPr>
          <p:spPr>
            <a:xfrm>
              <a:off x="8754821" y="2763320"/>
              <a:ext cx="606949" cy="600556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2" name="Google Shape;1882;p47"/>
            <p:cNvGrpSpPr/>
            <p:nvPr/>
          </p:nvGrpSpPr>
          <p:grpSpPr>
            <a:xfrm>
              <a:off x="8782808" y="2723340"/>
              <a:ext cx="883449" cy="2083923"/>
              <a:chOff x="8337812" y="3492483"/>
              <a:chExt cx="699928" cy="1651024"/>
            </a:xfrm>
          </p:grpSpPr>
          <p:sp>
            <p:nvSpPr>
              <p:cNvPr id="1883" name="Google Shape;1883;p47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7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7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6" name="Google Shape;1886;p47"/>
            <p:cNvGrpSpPr/>
            <p:nvPr/>
          </p:nvGrpSpPr>
          <p:grpSpPr>
            <a:xfrm>
              <a:off x="8215673" y="4178313"/>
              <a:ext cx="1141869" cy="916509"/>
              <a:chOff x="7945225" y="4302000"/>
              <a:chExt cx="904666" cy="726121"/>
            </a:xfrm>
          </p:grpSpPr>
          <p:sp>
            <p:nvSpPr>
              <p:cNvPr id="1887" name="Google Shape;1887;p4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90" name="Google Shape;1890;p47"/>
            <p:cNvSpPr/>
            <p:nvPr/>
          </p:nvSpPr>
          <p:spPr>
            <a:xfrm rot="5400000">
              <a:off x="8491754" y="37142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91" name="Google Shape;1891;p47"/>
            <p:cNvGrpSpPr/>
            <p:nvPr/>
          </p:nvGrpSpPr>
          <p:grpSpPr>
            <a:xfrm>
              <a:off x="7774724" y="3187835"/>
              <a:ext cx="734664" cy="735137"/>
              <a:chOff x="959750" y="3039275"/>
              <a:chExt cx="582050" cy="582425"/>
            </a:xfrm>
          </p:grpSpPr>
          <p:sp>
            <p:nvSpPr>
              <p:cNvPr id="1892" name="Google Shape;1892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9" name="Google Shape;1899;p47"/>
            <p:cNvGrpSpPr/>
            <p:nvPr/>
          </p:nvGrpSpPr>
          <p:grpSpPr>
            <a:xfrm>
              <a:off x="7625399" y="3691035"/>
              <a:ext cx="734664" cy="735137"/>
              <a:chOff x="959750" y="3039275"/>
              <a:chExt cx="582050" cy="582425"/>
            </a:xfrm>
          </p:grpSpPr>
          <p:sp>
            <p:nvSpPr>
              <p:cNvPr id="1900" name="Google Shape;1900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07" name="Google Shape;1907;p47"/>
            <p:cNvSpPr/>
            <p:nvPr/>
          </p:nvSpPr>
          <p:spPr>
            <a:xfrm rot="5400000">
              <a:off x="8666054" y="24747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8" name="Google Shape;1908;p47"/>
          <p:cNvGrpSpPr/>
          <p:nvPr/>
        </p:nvGrpSpPr>
        <p:grpSpPr>
          <a:xfrm>
            <a:off x="741975" y="2893476"/>
            <a:ext cx="5132617" cy="134100"/>
            <a:chOff x="741975" y="2893476"/>
            <a:chExt cx="5132617" cy="134100"/>
          </a:xfrm>
        </p:grpSpPr>
        <p:sp>
          <p:nvSpPr>
            <p:cNvPr id="1909" name="Google Shape;1909;p47"/>
            <p:cNvSpPr/>
            <p:nvPr/>
          </p:nvSpPr>
          <p:spPr>
            <a:xfrm>
              <a:off x="5740492" y="2893476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10" name="Google Shape;1910;p47"/>
            <p:cNvCxnSpPr/>
            <p:nvPr/>
          </p:nvCxnSpPr>
          <p:spPr>
            <a:xfrm>
              <a:off x="741975" y="2960525"/>
              <a:ext cx="50364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11" name="Google Shape;1911;p47"/>
            <p:cNvSpPr/>
            <p:nvPr/>
          </p:nvSpPr>
          <p:spPr>
            <a:xfrm>
              <a:off x="5770604" y="2923618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Экран (16:9)</PresentationFormat>
  <Paragraphs>22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IBM Plex Mono</vt:lpstr>
      <vt:lpstr>Open Sans</vt:lpstr>
      <vt:lpstr>Poppins</vt:lpstr>
      <vt:lpstr>Introduction to Coding Workshop by Slidesgo</vt:lpstr>
      <vt:lpstr>Сканер  утечек в коде</vt:lpstr>
      <vt:lpstr>Цель разработки:</vt:lpstr>
      <vt:lpstr>Функциональные требования:</vt:lpstr>
      <vt:lpstr>Инструменты разработки</vt:lpstr>
      <vt:lpstr>Модель работы программы</vt:lpstr>
      <vt:lpstr>Методы сканирования </vt:lpstr>
      <vt:lpstr>Пример вывода в консоль</vt:lpstr>
      <vt:lpstr>Пример вывода в файлы .json</vt:lpstr>
      <vt:lpstr>Пример вывода в файлы .txt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Andrey Fantomhife</cp:lastModifiedBy>
  <cp:revision>1</cp:revision>
  <dcterms:modified xsi:type="dcterms:W3CDTF">2026-03-07T18:35:46Z</dcterms:modified>
</cp:coreProperties>
</file>